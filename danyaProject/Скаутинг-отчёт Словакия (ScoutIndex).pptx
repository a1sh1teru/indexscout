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зор" id="{c8807372-0507-f103-4b01-75ed0184582f}">
          <p14:sldIdLst>
            <p14:sldId id="256"/>
            <p14:sldId id="257"/>
            <p14:sldId id="258"/>
          </p14:sldIdLst>
        </p14:section>
        <p14:section name="Кандидаты" id="{757f371a-44b7-5811-2bcd-13dfbbfc6e25}">
          <p14:sldIdLst>
            <p14:sldId id="259"/>
            <p14:sldId id="260"/>
            <p14:sldId id="261"/>
            <p14:sldId id="262"/>
            <p14:sldId id="263"/>
          </p14:sldIdLst>
        </p14:section>
        <p14:section name="Выводы" id="{150442f5-681a-5414-873b-853b35ede23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Индекс лучшей роли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Еунел Лима Соарес</c:v>
                  </c:pt>
                  <c:pt idx="1">
                    <c:v>Даниэль Гомет Руис</c:v>
                  </c:pt>
                  <c:pt idx="2">
                    <c:v>Гиорги Гагуа</c:v>
                  </c:pt>
                  <c:pt idx="3">
                    <c:v>Матей Труса</c:v>
                  </c:pt>
                  <c:pt idx="4">
                    <c:v>Маркус Поом</c:v>
                  </c:pt>
                  <c:pt idx="5">
                    <c:v>Алексей Марос</c:v>
                  </c:pt>
                  <c:pt idx="6">
                    <c:v>Аммар Рамадан</c:v>
                  </c:pt>
                  <c:pt idx="7">
                    <c:v>Питер Ковачик</c:v>
                  </c:pt>
                  <c:pt idx="8">
                    <c:v>Михал Фашко</c:v>
                  </c:pt>
                  <c:pt idx="9">
                    <c:v>Андраж Шпорар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</c:v>
                </c:pt>
                <c:pt idx="1">
                  <c:v>77</c:v>
                </c:pt>
                <c:pt idx="2">
                  <c:v>78</c:v>
                </c:pt>
                <c:pt idx="3">
                  <c:v>78</c:v>
                </c:pt>
                <c:pt idx="4">
                  <c:v>78</c:v>
                </c:pt>
                <c:pt idx="5">
                  <c:v>78</c:v>
                </c:pt>
                <c:pt idx="6">
                  <c:v>79</c:v>
                </c:pt>
                <c:pt idx="7">
                  <c:v>80</c:v>
                </c:pt>
                <c:pt idx="8">
                  <c:v>86</c:v>
                </c:pt>
                <c:pt idx="9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0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32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6C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D1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Отчёт собран платформой ScoutIndex по выгрузкам РуСтат.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Методика: перцентили 0-99, роли с весами, коэффициент 0.9, стилевая нормализация по 67 метрикам, пороги 500/270 минут, три уровня рекомендаций.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Горизонтальный график: топ-10 игроков Словакии по индексу лучшей роли в шкале РПЛ.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игроков, чья лучшая роль попадает в топ-10% соответствующего амплуа РПЛ.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главных цели: Шпорар (ST, 87), Фашко (AM, 86), Ковачик (W, 80). Полосы — индексы по ролям.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игроков уровня топ-20% РПЛ. U21 помечены.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Топ-10 игроков не старше 21 года по индексу лучшей роли; всего таких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Лучший игрок Словакии в каждой из шести групп позиций.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Выводы: брать атакующих, защитников искать в других лигах, следить за молодёжью. Оговорка про короткую выборку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AF0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Заголовок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F"/>
                </a:solidFill>
              </a:rPr>
              <a:t>ScoutIndex · Словакия → РПЛ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4572000"/>
          </a:xfrm>
          <a:prstGeom prst="ellipse">
            <a:avLst/>
          </a:prstGeom>
          <a:solidFill>
            <a:srgbClr val="1C16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5943600" cy="4572000"/>
          </a:xfrm>
          <a:prstGeom prst="ellipse">
            <a:avLst/>
          </a:prstGeom>
          <a:solidFill>
            <a:srgbClr val="0E2A3C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5CF6"/>
                </a:solidFill>
              </a:rPr>
              <a:t>Scout</a:t>
            </a:r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</a:rPr>
              <a:t>Index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F"/>
                </a:solidFill>
              </a:rPr>
              <a:t>Скаутинг-отчёт: Словакия → РПЛ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CF"/>
                </a:solidFill>
              </a:rPr>
              <a:t>Niké liga (высший дивизион Словакии) · сезон 2026/27, данные на 30.09 · сравнение с игроками РПЛ по ролям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5262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269</a:t>
            </a:r>
            <a:pPr indent="0" marL="0">
              <a:buNone/>
            </a:pPr>
            <a:r>
              <a:rPr lang="en-US" sz="1300" dirty="0">
                <a:solidFill>
                  <a:srgbClr val="9AA6CF"/>
                </a:solidFill>
              </a:rPr>
              <a:t>  игроков проанализировано      </a:t>
            </a:r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</a:rPr>
              <a:t>11</a:t>
            </a:r>
            <a:pPr indent="0" marL="0">
              <a:buNone/>
            </a:pPr>
            <a:r>
              <a:rPr lang="en-US" sz="1300" dirty="0">
                <a:solidFill>
                  <a:srgbClr val="9AA6CF"/>
                </a:solidFill>
              </a:rPr>
              <a:t> звёзд      </a:t>
            </a:r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9AA6CF"/>
                </a:solidFill>
              </a:rPr>
              <a:t> готовы усилить      </a:t>
            </a:r>
            <a:pPr indent="0" marL="0">
              <a:buNone/>
            </a:pPr>
            <a:r>
              <a:rPr lang="en-US" sz="2400" b="1" dirty="0">
                <a:solidFill>
                  <a:srgbClr val="67CDF8"/>
                </a:solidFill>
              </a:rPr>
              <a:t>34</a:t>
            </a:r>
            <a:pPr indent="0" marL="0">
              <a:buNone/>
            </a:pPr>
            <a:r>
              <a:rPr lang="en-US" sz="1300" dirty="0">
                <a:solidFill>
                  <a:srgbClr val="9AA6CF"/>
                </a:solidFill>
              </a:rPr>
              <a:t> перспективных U21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F"/>
                </a:solidFill>
              </a:rPr>
              <a:t>октябрь 2026 · подготовлено в ScoutIndex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Как считалось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842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Перцентили 0–99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048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Каждый показатель за 90 минут переводится в место среди игроков того же амплуа: 0 — худший, 99 — лучший. Сравнение — с игроками РПЛ.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19842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Роли и веса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4048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Индекс роли — взвешенная сумма перцентилей её метрик. Роли и веса — настройки заказчика (стоппер, завершитель, меццала и т. д.).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14356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19842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Коэффициент лиги 0,9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4048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Каждый показатель словацкого игрока умножается на 0,9 — поправка на силу лиги относительно РПЛ.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98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Стилевая нормализация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9194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67 объёмных метрик выровнены по медианам лиг внутри амплуа — убирает разницу стилей чемпионатов.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5112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3712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4498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Пороги минут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9194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РПЛ: от 500 минут (289 из 434 игроков). Словакия: от 270 минут (ранний сезон, 157 из 269).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47304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75904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4988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Уровни рекомендаций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9194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⭐ Звезда — лучшая роль в топ-10% РПЛ.  🟢 Усиление — топ-20%.  🔵 Перспектива — возраст до 21 года.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Топ-10 Словакии по индексу лучшей роли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88720"/>
          <a:ext cx="7863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641080" y="1188720"/>
            <a:ext cx="3063240" cy="5120640"/>
          </a:xfrm>
          <a:prstGeom prst="roundRect">
            <a:avLst>
              <a:gd name="adj" fmla="val 2687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154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Шкала индекса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EA53"/>
                </a:solidFill>
              </a:rPr>
              <a:t>85+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уровень лидеров РПЛ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94436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BEA53"/>
                </a:solidFill>
              </a:rPr>
              <a:t>70–84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твёрдый игрок основы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96849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BEA53"/>
                </a:solidFill>
              </a:rPr>
              <a:t>55–69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ротация / с потенциалом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49926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BC53"/>
                </a:solidFill>
              </a:rPr>
              <a:t>до 55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ниже уровня РПЛ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⭐ Звёзды — топ-10% РПЛ по своей роли (11)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83080"/>
                <a:gridCol w="548640"/>
                <a:gridCol w="548640"/>
                <a:gridCol w="2377440"/>
                <a:gridCol w="777240"/>
                <a:gridCol w="2788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ИГРОК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КЛУБ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ВОЗР.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ПОЗ.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ЛУЧШАЯ РОЛЬ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ИНДЕКС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МЕСТО В РПЛ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Андраж Шпорар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AEA53"/>
                          </a:solidFill>
                        </a:rPr>
                        <a:t>87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9EA53"/>
                          </a:solidFill>
                        </a:rPr>
                        <a:t>топ-1% · №1 из 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Михал Фашко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АП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Классическая «десятка»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DEA53"/>
                          </a:solidFill>
                        </a:rPr>
                        <a:t>86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DEA53"/>
                          </a:solidFill>
                        </a:rPr>
                        <a:t>топ-7% · №2 из 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Питер Ковачик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Подбрезова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Инвертированный 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FEA53"/>
                          </a:solidFill>
                        </a:rPr>
                        <a:t>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1EA53"/>
                          </a:solidFill>
                        </a:rPr>
                        <a:t>топ-5% · №2 из 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Аммар Рамадан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ДАК 1904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Инвертированный 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2EA53"/>
                          </a:solidFill>
                        </a:rPr>
                        <a:t>79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1EA53"/>
                          </a:solidFill>
                        </a:rPr>
                        <a:t>топ-5% · №2 из 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Алексей Марос  (U21)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Инвертированный 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5EA53"/>
                          </a:solidFill>
                        </a:rPr>
                        <a:t>78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1EA53"/>
                          </a:solidFill>
                        </a:rPr>
                        <a:t>топ-5% · №2 из 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Маркус Поом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Тренчин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Разрушитель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5EA53"/>
                          </a:solidFill>
                        </a:rPr>
                        <a:t>78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5EA53"/>
                          </a:solidFill>
                        </a:rPr>
                        <a:t>топ-3% · №2 из 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Матей Труса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ДАК 1904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5EA53"/>
                          </a:solidFill>
                        </a:rPr>
                        <a:t>78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5EA53"/>
                          </a:solidFill>
                        </a:rPr>
                        <a:t>топ-3% · №1 из 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Даниэль Гомет Руис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8EA53"/>
                          </a:solidFill>
                        </a:rPr>
                        <a:t>77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5EA53"/>
                          </a:solidFill>
                        </a:rPr>
                        <a:t>топ-3% · №1 из 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Еунел Лима Соарес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Тренчин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Инвертированный 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4EA53"/>
                          </a:solidFill>
                        </a:rPr>
                        <a:t>73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1EA53"/>
                          </a:solidFill>
                        </a:rPr>
                        <a:t>топ-5% · №2 из 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Тигран Барсегиян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33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DEA53"/>
                          </a:solidFill>
                        </a:rPr>
                        <a:t>70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DEA53"/>
                          </a:solidFill>
                        </a:rPr>
                        <a:t>топ-7% · №3 из 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Филип Личи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Кошице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Бокс-ту-бокс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EA53"/>
                          </a:solidFill>
                        </a:rPr>
                        <a:t>68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EA53"/>
                          </a:solidFill>
                        </a:rPr>
                        <a:t>топ-10% · №6 из 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Главные цели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834640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AEA53"/>
                </a:solidFill>
              </a:rPr>
              <a:t>87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81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</a:rPr>
              <a:t>Андраж Шпорар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Слован Братислава · форвард · 32 года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Завершитель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3063240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3063240"/>
            <a:ext cx="2704795" cy="109728"/>
          </a:xfrm>
          <a:prstGeom prst="roundRect">
            <a:avLst>
              <a:gd name="adj" fmla="val 41667"/>
            </a:avLst>
          </a:prstGeom>
          <a:solidFill>
            <a:srgbClr val="7AEA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53512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EA53"/>
                </a:solidFill>
              </a:rPr>
              <a:t>87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Таргетмен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" y="3630168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630168"/>
            <a:ext cx="2456078" cy="109728"/>
          </a:xfrm>
          <a:prstGeom prst="roundRect">
            <a:avLst>
              <a:gd name="adj" fmla="val 41667"/>
            </a:avLst>
          </a:prstGeom>
          <a:solidFill>
            <a:srgbClr val="92EA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53512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EA53"/>
                </a:solidFill>
              </a:rPr>
              <a:t>79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3922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Оттянутый форвард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197096"/>
            <a:ext cx="1958645" cy="109728"/>
          </a:xfrm>
          <a:prstGeom prst="roundRect">
            <a:avLst>
              <a:gd name="adj" fmla="val 41667"/>
            </a:avLst>
          </a:prstGeom>
          <a:solidFill>
            <a:srgbClr val="C2EA5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53512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EA53"/>
                </a:solidFill>
              </a:rPr>
              <a:t>63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6817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№1 среди всех форвардов РПЛ по роли завершителя. 32 года — вариант «здесь и сейчас», без ресейла.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123444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7DEA53"/>
                </a:solidFill>
              </a:rPr>
              <a:t>86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481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</a:rPr>
              <a:t>Михал Фашко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Жилина · атакующий полузащитник · 32 года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Классическая «десятка»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81144" y="3063240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81144" y="3063240"/>
            <a:ext cx="2673706" cy="109728"/>
          </a:xfrm>
          <a:prstGeom prst="roundRect">
            <a:avLst>
              <a:gd name="adj" fmla="val 41667"/>
            </a:avLst>
          </a:prstGeom>
          <a:solidFill>
            <a:srgbClr val="7DEA5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75704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EA53"/>
                </a:solidFill>
              </a:rPr>
              <a:t>86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Теневой форвард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81144" y="3630168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81144" y="3630168"/>
            <a:ext cx="2580437" cy="109728"/>
          </a:xfrm>
          <a:prstGeom prst="roundRect">
            <a:avLst>
              <a:gd name="adj" fmla="val 41667"/>
            </a:avLst>
          </a:prstGeom>
          <a:solidFill>
            <a:srgbClr val="86EA5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75704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6EA53"/>
                </a:solidFill>
              </a:rPr>
              <a:t>83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81144" y="46817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Лучший плеймейкер лиги: №2 среди десяток РПЛ, №1 как теневой форвард. Возраст 32 — усиление на 1–2 сезона.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47304" y="1234440"/>
            <a:ext cx="3611880" cy="4892040"/>
          </a:xfrm>
          <a:prstGeom prst="roundRect">
            <a:avLst>
              <a:gd name="adj" fmla="val 2278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79024" y="1463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8FEA53"/>
                </a:solidFill>
              </a:rPr>
              <a:t>80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1481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</a:rPr>
              <a:t>Питер Ковачик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403336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Подбрезова · вингер · 25 лет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Инвертированный вингер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03336" y="3063240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39" name="Shape 37"/>
          <p:cNvSpPr/>
          <p:nvPr/>
        </p:nvSpPr>
        <p:spPr>
          <a:xfrm>
            <a:off x="8403336" y="3063240"/>
            <a:ext cx="2487168" cy="109728"/>
          </a:xfrm>
          <a:prstGeom prst="roundRect">
            <a:avLst>
              <a:gd name="adj" fmla="val 41667"/>
            </a:avLst>
          </a:prstGeom>
          <a:solidFill>
            <a:srgbClr val="8FEA5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597896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EA53"/>
                </a:solidFill>
              </a:rPr>
              <a:t>80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Инсайд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03336" y="3630168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43" name="Shape 41"/>
          <p:cNvSpPr/>
          <p:nvPr/>
        </p:nvSpPr>
        <p:spPr>
          <a:xfrm>
            <a:off x="8403336" y="3630168"/>
            <a:ext cx="2393899" cy="109728"/>
          </a:xfrm>
          <a:prstGeom prst="roundRect">
            <a:avLst>
              <a:gd name="adj" fmla="val 41667"/>
            </a:avLst>
          </a:prstGeom>
          <a:solidFill>
            <a:srgbClr val="98EA5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597896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8EA53"/>
                </a:solidFill>
              </a:rPr>
              <a:t>77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403336" y="3922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Вингер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03336" y="4197096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232A52"/>
          </a:solidFill>
          <a:ln/>
        </p:spPr>
      </p:sp>
      <p:sp>
        <p:nvSpPr>
          <p:cNvPr id="47" name="Shape 45"/>
          <p:cNvSpPr/>
          <p:nvPr/>
        </p:nvSpPr>
        <p:spPr>
          <a:xfrm>
            <a:off x="8403336" y="4197096"/>
            <a:ext cx="2300630" cy="109728"/>
          </a:xfrm>
          <a:prstGeom prst="roundRect">
            <a:avLst>
              <a:gd name="adj" fmla="val 41667"/>
            </a:avLst>
          </a:prstGeom>
          <a:solidFill>
            <a:srgbClr val="A1EA5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597896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1EA53"/>
                </a:solidFill>
              </a:rPr>
              <a:t>74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403336" y="46817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25 лет, №1 в РПЛ как инсайд и №2 как инвертированный вингер. Оптимальный баланс уровня и возраста.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🟢 Готовы усилить — топ-20% РПЛ (15)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83080"/>
                <a:gridCol w="548640"/>
                <a:gridCol w="548640"/>
                <a:gridCol w="2377440"/>
                <a:gridCol w="777240"/>
                <a:gridCol w="278892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ИГРОК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КЛУБ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ВОЗР.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ПОЗ.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ЛУЧШАЯ РОЛЬ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ИНДЕКС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МЕСТО В РПЛ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Гиорги Гагуа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ДАК 1904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АП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Классическая «десятка»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5EA53"/>
                          </a:solidFill>
                        </a:rPr>
                        <a:t>78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EA53"/>
                          </a:solidFill>
                        </a:rPr>
                        <a:t>топ-14%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Филипп Азанго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Инсайд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4EA53"/>
                          </a:solidFill>
                        </a:rPr>
                        <a:t>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EA53"/>
                          </a:solidFill>
                        </a:rPr>
                        <a:t>топ-12%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Франтишек Коса  (U21)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АП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Классическая «десятка»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7EA53"/>
                          </a:solidFill>
                        </a:rPr>
                        <a:t>72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EA53"/>
                          </a:solidFill>
                        </a:rPr>
                        <a:t>топ-14%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Филип Трелло  (U21)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Инсайд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AEA53"/>
                          </a:solidFill>
                        </a:rPr>
                        <a:t>71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EA53"/>
                          </a:solidFill>
                        </a:rPr>
                        <a:t>топ-14%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Алекса Марас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Кошице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DEA53"/>
                          </a:solidFill>
                        </a:rPr>
                        <a:t>70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EA53"/>
                          </a:solidFill>
                        </a:rPr>
                        <a:t>топ-17%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Артур Гайдос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Меццала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DEA53"/>
                          </a:solidFill>
                        </a:rPr>
                        <a:t>70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1EA53"/>
                          </a:solidFill>
                        </a:rPr>
                        <a:t>топ-13%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Ксавье Аданг Мвенг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Разрушитель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EA53"/>
                          </a:solidFill>
                        </a:rPr>
                        <a:t>69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1EA53"/>
                          </a:solidFill>
                        </a:rPr>
                        <a:t>топ-13%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Давид Полтак  (U21)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EA53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5EA53"/>
                          </a:solidFill>
                        </a:rPr>
                        <a:t>топ-19%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Милан Рехус  (U21)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Кошице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Таргетмен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EA53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EA53"/>
                          </a:solidFill>
                        </a:rPr>
                        <a:t>топ-17%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Ален Мустафик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Глубинный плеймейкер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CEA53"/>
                          </a:solidFill>
                        </a:rPr>
                        <a:t>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DEA53"/>
                          </a:solidFill>
                        </a:rPr>
                        <a:t>топ-15%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Фабиан Бздил  (U21)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18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Меццала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CEA53"/>
                          </a:solidFill>
                        </a:rPr>
                        <a:t>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EA53"/>
                          </a:solidFill>
                        </a:rPr>
                        <a:t>топ-20%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Роберт Полиевка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Дукла Банска-Бистрица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30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CEA53"/>
                          </a:solidFill>
                        </a:rPr>
                        <a:t>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5EA53"/>
                          </a:solidFill>
                        </a:rPr>
                        <a:t>топ-19%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Сесар Блэкмэн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КЗ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Атакующий вингбек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CEA53"/>
                          </a:solidFill>
                        </a:rPr>
                        <a:t>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DEA53"/>
                          </a:solidFill>
                        </a:rPr>
                        <a:t>топ-15%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Лорент Мехмети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Инсайд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EA53"/>
                          </a:solidFill>
                        </a:rPr>
                        <a:t>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5EA53"/>
                          </a:solidFill>
                        </a:rPr>
                        <a:t>топ-19%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AF0FF"/>
                          </a:solidFill>
                        </a:rPr>
                        <a:t>Тейлор Мур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Кошице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29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AA6CF"/>
                          </a:solidFill>
                        </a:rPr>
                        <a:t>ЦЗ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F0FF"/>
                          </a:solidFill>
                        </a:rPr>
                        <a:t>Стоппер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EA53"/>
                          </a:solidFill>
                        </a:rPr>
                        <a:t>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BEA53"/>
                          </a:solidFill>
                        </a:rPr>
                        <a:t>топ-20%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🔵 Перспективные U21 — топ-10 из 34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83080"/>
                <a:gridCol w="548640"/>
                <a:gridCol w="548640"/>
                <a:gridCol w="2377440"/>
                <a:gridCol w="777240"/>
                <a:gridCol w="2788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ИГРОК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КЛУБ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ВОЗР.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ПОЗ.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ЛУЧШАЯ РОЛЬ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ИНДЕКС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CF"/>
                          </a:solidFill>
                        </a:rPr>
                        <a:t>МЕСТО В РПЛ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9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Алексей Марос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Инвертированный 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5EA53"/>
                          </a:solidFill>
                        </a:rPr>
                        <a:t>78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1EA53"/>
                          </a:solidFill>
                        </a:rPr>
                        <a:t>топ-5%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Франтишек Коса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АП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Классическая «десятка»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7EA53"/>
                          </a:solidFill>
                        </a:rPr>
                        <a:t>72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EA53"/>
                          </a:solidFill>
                        </a:rPr>
                        <a:t>топ-14%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Филип Трелло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19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Инсайд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AEA53"/>
                          </a:solidFill>
                        </a:rPr>
                        <a:t>71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EA53"/>
                          </a:solidFill>
                        </a:rPr>
                        <a:t>топ-14%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Давид Полтак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Спартак Трнава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EA53"/>
                          </a:solidFill>
                        </a:rPr>
                        <a:t>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5EA53"/>
                          </a:solidFill>
                        </a:rPr>
                        <a:t>топ-19%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Милан Рехус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Кошице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Таргетмен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EA53"/>
                          </a:solidFill>
                        </a:rPr>
                        <a:t>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9EA53"/>
                          </a:solidFill>
                        </a:rPr>
                        <a:t>топ-17%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Фабиан Бздил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ЦП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Меццала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CEA53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EA53"/>
                          </a:solidFill>
                        </a:rPr>
                        <a:t>топ-20%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Андрей Флореа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Жилина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АП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Классическая «десятка»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EA53"/>
                          </a:solidFill>
                        </a:rPr>
                        <a:t>63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4EA53"/>
                          </a:solidFill>
                        </a:rPr>
                        <a:t>топ-24%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Аласана Йираджанг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Слован Братислава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EA53"/>
                          </a:solidFill>
                        </a:rPr>
                        <a:t>61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E453"/>
                          </a:solidFill>
                        </a:rPr>
                        <a:t>топ-26%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Филип Оньедика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Скалица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ФРВ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Завершитель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1EA53"/>
                          </a:solidFill>
                        </a:rPr>
                        <a:t>58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9553"/>
                          </a:solidFill>
                        </a:rPr>
                        <a:t>топ-39%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D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F"/>
                          </a:solidFill>
                        </a:rPr>
                        <a:t>Диланн Кам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Тренчин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6CF"/>
                          </a:solidFill>
                        </a:rPr>
                        <a:t>ВИН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F"/>
                          </a:solidFill>
                        </a:rPr>
                        <a:t>Вингер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BEA53"/>
                          </a:solidFill>
                        </a:rPr>
                        <a:t>55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8F53"/>
                          </a:solidFill>
                        </a:rPr>
                        <a:t>топ-40%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A3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42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CF"/>
                </a:solidFill>
              </a:rPr>
              <a:t>Всего перспективных (до 21 года, от 270 минут) — 34; полный список доступен в платформе.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Лучший кандидат в каждой линии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ЦЕНТРАЛЬНЫЕ ЗАЩИТНИКИ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3990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C2EA53"/>
                </a:solidFill>
              </a:rPr>
              <a:t>63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Тейлор Мур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Кошице · 29 лет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Стоппер  ·  </a:t>
            </a:r>
            <a:pPr indent="0" marL="0">
              <a:buNone/>
            </a:pPr>
            <a:r>
              <a:rPr lang="en-US" sz="1200" b="1" dirty="0">
                <a:solidFill>
                  <a:srgbClr val="CBEA53"/>
                </a:solidFill>
              </a:rPr>
              <a:t>топ-20% РПЛ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КРАЙНИЕ ЗАЩИТНИКИ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13990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BCEA53"/>
                </a:solidFill>
              </a:rPr>
              <a:t>65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Сесар Блэкмэн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4414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Слован Братислава · 28 лет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Атакующий вингбек  ·  </a:t>
            </a:r>
            <a:pPr indent="0" marL="0">
              <a:buNone/>
            </a:pPr>
            <a:r>
              <a:rPr lang="en-US" sz="1200" b="1" dirty="0">
                <a:solidFill>
                  <a:srgbClr val="ADEA53"/>
                </a:solidFill>
              </a:rPr>
              <a:t>топ-15% РПЛ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7304" y="12344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ОПОРНЫЕ / ЦЕНТРАЛЬНЫЕ ПЗ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616184" y="13990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95EA53"/>
                </a:solidFill>
              </a:rPr>
              <a:t>78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Маркус Поом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4414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Тренчин · 27 лет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Разрушитель  ·  </a:t>
            </a:r>
            <a:pPr indent="0" marL="0">
              <a:buNone/>
            </a:pPr>
            <a:r>
              <a:rPr lang="en-US" sz="1200" b="1" dirty="0">
                <a:solidFill>
                  <a:srgbClr val="65EA53"/>
                </a:solidFill>
              </a:rPr>
              <a:t>топ-3% РПЛ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ВИНГЕРЫ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71800" y="39136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8FEA53"/>
                </a:solidFill>
              </a:rPr>
              <a:t>80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315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Питер Ковачик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9560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Подбрезова · 25 лет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218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Инвертированный вингер  ·  </a:t>
            </a:r>
            <a:pPr indent="0" marL="0">
              <a:buNone/>
            </a:pPr>
            <a:r>
              <a:rPr lang="en-US" sz="1200" b="1" dirty="0">
                <a:solidFill>
                  <a:srgbClr val="71EA53"/>
                </a:solidFill>
              </a:rPr>
              <a:t>топ-5% РПЛ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53712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АТАКУЮЩИЕ ПЗ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93992" y="39136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DEA53"/>
                </a:solidFill>
              </a:rPr>
              <a:t>86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4553712" y="4315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Михал Фашко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53712" y="49560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Жилина · 32 года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53218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Классическая «десятка»  ·  </a:t>
            </a:r>
            <a:pPr indent="0" marL="0">
              <a:buNone/>
            </a:pPr>
            <a:r>
              <a:rPr lang="en-US" sz="1200" b="1" dirty="0">
                <a:solidFill>
                  <a:srgbClr val="7DEA53"/>
                </a:solidFill>
              </a:rPr>
              <a:t>топ-7% РПЛ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47304" y="374904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75904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</a:rPr>
              <a:t>ФОРВАРДЫ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616184" y="39136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AEA53"/>
                </a:solidFill>
              </a:rPr>
              <a:t>87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4315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Андраж Шпорар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375904" y="49560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Слован Братислава · 32 года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75904" y="53218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Завершитель  ·  </a:t>
            </a:r>
            <a:pPr indent="0" marL="0">
              <a:buNone/>
            </a:pPr>
            <a:r>
              <a:rPr lang="en-US" sz="1200" b="1" dirty="0">
                <a:solidFill>
                  <a:srgbClr val="59EA53"/>
                </a:solidFill>
              </a:rPr>
              <a:t>топ-1% РПЛ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Выводы и рекомендации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7223760" cy="5029200"/>
          </a:xfrm>
          <a:prstGeom prst="roundRect">
            <a:avLst>
              <a:gd name="adj" fmla="val 163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6583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4D399"/>
                </a:solidFill>
              </a:rPr>
              <a:t>Сильные стороны словацкого рынка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</a:rPr>
              <a:t>Атакующая группа: форварды (Шпорар 87, Труса 78), десятки (Фашко 86) и вингеры (Ковачик 80, Рамадан 79) — готовый уровень основы РПЛ.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87171"/>
                </a:solidFill>
              </a:rPr>
              <a:t>Дефицитные позиции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</a:rPr>
              <a:t>Оборона слабее: лучший ЦЗ (Мур, 63) и фуллбек (Блэкмэн, 65) — лишь уровень топ-15–20% РПЛ. Защитников искать на других рынках.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7CDF8"/>
                </a:solidFill>
              </a:rPr>
              <a:t>Молодёжь на вырост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</a:rPr>
              <a:t>Марос (21, индекс 78) — звезда уже сейчас; Коса (20), Трелло (19), Бздил (18) сочетают возраст и уровень топ-20% РПЛ.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D3EE"/>
                </a:solidFill>
              </a:rPr>
              <a:t>Следующие шаги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</a:rPr>
              <a:t>Живой просмотр топ-3 целей; проверка игровых минут по ходу сезона; запрос условий по Маросу и Ковачику до зимнего окна.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703320" cy="5029200"/>
          </a:xfrm>
          <a:prstGeom prst="roundRect">
            <a:avLst>
              <a:gd name="adj" fmla="val 2222"/>
            </a:avLst>
          </a:prstGeom>
          <a:solidFill>
            <a:srgbClr val="10142C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753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⚠ Оговорка о данных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20116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F"/>
                </a:solidFill>
              </a:rPr>
              <a:t>Сезон 2026/27 в Словакии сыгран лишь частично: порог снижен до 270 минут, у части игроков выборка мала (Шпорар — 329 минут). Индексы ранних лидеров могут снизиться по мере роста минут — пересчитать отчёт после 10–12 туров.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6CF"/>
                </a:solidFill>
              </a:rPr>
              <a:t>Параметры: коэффициент 0,9 · стилевая нормализация вкл. (67 метрик) · пороги 500/270 мин · уровни 10% / 20% / U21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utIndex Dark">
  <a:themeElements>
    <a:clrScheme name="ScoutIndex Dark">
      <a:dk1>
        <a:srgbClr val="EAF0FF"/>
      </a:dk1>
      <a:lt1>
        <a:srgbClr val="0A0D1D"/>
      </a:lt1>
      <a:dk2>
        <a:srgbClr val="9AA6CF"/>
      </a:dk2>
      <a:lt2>
        <a:srgbClr val="141936"/>
      </a:lt2>
      <a:accent1>
        <a:srgbClr val="8B5CF6"/>
      </a:accent1>
      <a:accent2>
        <a:srgbClr val="22D3EE"/>
      </a:accent2>
      <a:accent3>
        <a:srgbClr val="5B7CFA"/>
      </a:accent3>
      <a:accent4>
        <a:srgbClr val="34D399"/>
      </a:accent4>
      <a:accent5>
        <a:srgbClr val="FBBF24"/>
      </a:accent5>
      <a:accent6>
        <a:srgbClr val="F87171"/>
      </a:accent6>
      <a:hlink>
        <a:srgbClr val="22D3EE"/>
      </a:hlink>
      <a:folHlink>
        <a:srgbClr val="8B5CF6"/>
      </a:folHlink>
    </a:clrScheme>
    <a:fontScheme name="ScoutIndex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ScoutIndex — Словакия → РПЛ</dc:title>
  <dc:subject>Скаутинг-отчёт: Словакия для РПЛ</dc:subject>
  <dc:creator>ScoutIndex</dc:creator>
  <cp:lastModifiedBy>ScoutIndex</cp:lastModifiedBy>
  <cp:revision>1</cp:revision>
  <dcterms:created xsi:type="dcterms:W3CDTF">2026-10-03T10:10:06Z</dcterms:created>
  <dcterms:modified xsi:type="dcterms:W3CDTF">2026-10-03T10:10:06Z</dcterms:modified>
</cp:coreProperties>
</file>